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Inter"/>
      <p:regular r:id="rId14"/>
      <p:bold r:id="rId15"/>
      <p:italic r:id="rId16"/>
      <p:boldItalic r:id="rId17"/>
    </p:embeddedFont>
    <p:embeddedFont>
      <p:font typeface="Outfit"/>
      <p:regular r:id="rId18"/>
      <p:bold r:id="rId19"/>
    </p:embeddedFont>
    <p:embeddedFont>
      <p:font typeface="Inter Medium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Medium-regular.fntdata"/><Relationship Id="rId11" Type="http://schemas.openxmlformats.org/officeDocument/2006/relationships/slide" Target="slides/slide6.xml"/><Relationship Id="rId22" Type="http://schemas.openxmlformats.org/officeDocument/2006/relationships/font" Target="fonts/InterMedium-italic.fntdata"/><Relationship Id="rId10" Type="http://schemas.openxmlformats.org/officeDocument/2006/relationships/slide" Target="slides/slide5.xml"/><Relationship Id="rId21" Type="http://schemas.openxmlformats.org/officeDocument/2006/relationships/font" Target="fonts/InterMedium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InterMedium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bold.fntdata"/><Relationship Id="rId14" Type="http://schemas.openxmlformats.org/officeDocument/2006/relationships/font" Target="fonts/Inter-regular.fntdata"/><Relationship Id="rId17" Type="http://schemas.openxmlformats.org/officeDocument/2006/relationships/font" Target="fonts/Inter-boldItalic.fntdata"/><Relationship Id="rId16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utfit-bold.fntdata"/><Relationship Id="rId6" Type="http://schemas.openxmlformats.org/officeDocument/2006/relationships/slide" Target="slides/slide1.xml"/><Relationship Id="rId18" Type="http://schemas.openxmlformats.org/officeDocument/2006/relationships/font" Target="fonts/Outfi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9.png"/><Relationship Id="rId7" Type="http://schemas.openxmlformats.org/officeDocument/2006/relationships/image" Target="../media/image6.png"/><Relationship Id="rId8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6.png"/><Relationship Id="rId5" Type="http://schemas.openxmlformats.org/officeDocument/2006/relationships/image" Target="../media/image15.png"/><Relationship Id="rId6" Type="http://schemas.openxmlformats.org/officeDocument/2006/relationships/image" Target="../media/image12.png"/><Relationship Id="rId7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289970"/>
            <a:ext cx="9039225" cy="8191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71500" y="2129730"/>
            <a:ext cx="9491186" cy="817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85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Sistema de </a:t>
            </a:r>
            <a:r>
              <a:rPr b="1" i="0" lang="en-US" sz="5850" u="none" cap="none" strike="noStrike">
                <a:solidFill>
                  <a:srgbClr val="BEF264"/>
                </a:solidFill>
                <a:latin typeface="Outfit"/>
                <a:ea typeface="Outfit"/>
                <a:cs typeface="Outfit"/>
                <a:sym typeface="Outfit"/>
              </a:rPr>
              <a:t>Cantina Digital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3232695"/>
            <a:ext cx="90392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Eficiência Operacional e Metodologia JAD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585245"/>
            <a:ext cx="29177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CLAUDIO FONSECA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632150" y="4585245"/>
            <a:ext cx="29177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EMERSON FABRÍCIO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692800" y="4585245"/>
            <a:ext cx="291792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GABRIEL CAVALCANTE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71500" y="4918620"/>
            <a:ext cx="29177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VEIDA NAYARÊ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3632150" y="4918620"/>
            <a:ext cx="29177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JOÃO VIEIRA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692800" y="4918620"/>
            <a:ext cx="291792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LUCAS NASCIMENTO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05000"/>
            <a:ext cx="52387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571500" y="1905000"/>
            <a:ext cx="52387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Nossa análise identificou barreiras críticas que comprometem a viabilidade do negócio e a satisfação dos alunos:</a:t>
            </a:r>
            <a:endParaRPr/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914525"/>
            <a:ext cx="5219700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657225" y="2952750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762000" y="2952750"/>
            <a:ext cx="5048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EF264"/>
                </a:solidFill>
                <a:latin typeface="Inter"/>
                <a:ea typeface="Inter"/>
                <a:cs typeface="Inter"/>
                <a:sym typeface="Inter"/>
              </a:rPr>
              <a:t>Superlotação em Horários de Pico: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Concentração massiva nos intervalos de 15-20 minutos, gerando filas impraticáveis.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57225" y="4000500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762000" y="4000500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EF264"/>
                </a:solidFill>
                <a:latin typeface="Inter"/>
                <a:ea typeface="Inter"/>
                <a:cs typeface="Inter"/>
                <a:sym typeface="Inter"/>
              </a:rPr>
              <a:t>Lentidão Analógica: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Processos manuais de pedidos e trocos que desaceleram o fluxo de atendimento.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57225" y="4762500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762000" y="4762500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EF264"/>
                </a:solidFill>
                <a:latin typeface="Inter"/>
                <a:ea typeface="Inter"/>
                <a:cs typeface="Inter"/>
                <a:sym typeface="Inter"/>
              </a:rPr>
              <a:t>Ineficiência Financeira: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Falta de conciliação de caixa e riscos elevados em transações físicas.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BEF264"/>
                </a:solidFill>
                <a:latin typeface="Outfit"/>
                <a:ea typeface="Outfit"/>
                <a:cs typeface="Outfit"/>
                <a:sym typeface="Outfit"/>
              </a:rPr>
              <a:t>Contextualização do Problema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043189"/>
            <a:ext cx="110490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571500" y="229106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solução foi fundamentada nas 5 fases do </a:t>
            </a:r>
            <a:r>
              <a:rPr b="1" i="0" lang="en-US" sz="1500" u="none" cap="none" strike="noStrike">
                <a:solidFill>
                  <a:srgbClr val="BEF264"/>
                </a:solidFill>
                <a:latin typeface="Inter"/>
                <a:ea typeface="Inter"/>
                <a:cs typeface="Inter"/>
                <a:sym typeface="Inter"/>
              </a:rPr>
              <a:t>Joint Application Development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571500" y="3453110"/>
            <a:ext cx="11049000" cy="1905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521780" y="3691235"/>
            <a:ext cx="208822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EF264"/>
                </a:solidFill>
                <a:latin typeface="Inter"/>
                <a:ea typeface="Inter"/>
                <a:cs typeface="Inter"/>
                <a:sym typeface="Inter"/>
              </a:rPr>
              <a:t>Definição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571500" y="4119264"/>
            <a:ext cx="198879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Escopo e stakeholders.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2786795" y="3691235"/>
            <a:ext cx="208822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EF264"/>
                </a:solidFill>
                <a:latin typeface="Inter"/>
                <a:ea typeface="Inter"/>
                <a:cs typeface="Inter"/>
                <a:sym typeface="Inter"/>
              </a:rPr>
              <a:t>Pesquisa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2836515" y="4119264"/>
            <a:ext cx="198879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Análise de fluxo real.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5051810" y="3691235"/>
            <a:ext cx="208822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EF264"/>
                </a:solidFill>
                <a:latin typeface="Inter"/>
                <a:ea typeface="Inter"/>
                <a:cs typeface="Inter"/>
                <a:sym typeface="Inter"/>
              </a:rPr>
              <a:t>Preparação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5101530" y="4119264"/>
            <a:ext cx="198879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Configuração do stack.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7316825" y="3691235"/>
            <a:ext cx="208822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EF264"/>
                </a:solidFill>
                <a:latin typeface="Inter"/>
                <a:ea typeface="Inter"/>
                <a:cs typeface="Inter"/>
                <a:sym typeface="Inter"/>
              </a:rPr>
              <a:t>Sessão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7366545" y="4119264"/>
            <a:ext cx="198879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Brainstorming conjunto.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9581841" y="3691235"/>
            <a:ext cx="208822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EF264"/>
                </a:solidFill>
                <a:latin typeface="Inter"/>
                <a:ea typeface="Inter"/>
                <a:cs typeface="Inter"/>
                <a:sym typeface="Inter"/>
              </a:rPr>
              <a:t>Revisão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9631560" y="4119264"/>
            <a:ext cx="198879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Validação de requisitos.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BEF264"/>
                </a:solidFill>
                <a:latin typeface="Outfit"/>
                <a:ea typeface="Outfit"/>
                <a:cs typeface="Outfit"/>
                <a:sym typeface="Outfit"/>
              </a:rPr>
              <a:t>A Jornada JAD: Processo Colaborativo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73709"/>
            <a:ext cx="2619375" cy="2263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1375" y="2773709"/>
            <a:ext cx="2619375" cy="2263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0" y="2773709"/>
            <a:ext cx="2619375" cy="2263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01125" y="2773709"/>
            <a:ext cx="2619375" cy="2263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66875" y="3059459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806053" y="3884265"/>
            <a:ext cx="21502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Miro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857250" y="4208115"/>
            <a:ext cx="20478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Mapeamento de sugestões sobre a superlotação.</a:t>
            </a:r>
            <a:endParaRPr/>
          </a:p>
        </p:txBody>
      </p:sp>
      <p:pic>
        <p:nvPicPr>
          <p:cNvPr descr="image.png" id="140" name="Google Shape;14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24375" y="3059459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3615928" y="3884265"/>
            <a:ext cx="21502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Trello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3667125" y="4208115"/>
            <a:ext cx="20478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Gestão do backlog e priorização de tarefas.</a:t>
            </a:r>
            <a:endParaRPr/>
          </a:p>
        </p:txBody>
      </p:sp>
      <p:pic>
        <p:nvPicPr>
          <p:cNvPr descr="image.png" id="143" name="Google Shape;14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58062" y="3059459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/>
        </p:nvSpPr>
        <p:spPr>
          <a:xfrm>
            <a:off x="6425803" y="3884265"/>
            <a:ext cx="21502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Figma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6477000" y="4208115"/>
            <a:ext cx="20478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Design de interface focado na rapidez do totem.</a:t>
            </a:r>
            <a:endParaRPr/>
          </a:p>
        </p:txBody>
      </p:sp>
      <p:pic>
        <p:nvPicPr>
          <p:cNvPr descr="image.png" id="146" name="Google Shape;146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144125" y="3059459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9235678" y="3884265"/>
            <a:ext cx="21502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Python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9286875" y="4208115"/>
            <a:ext cx="20478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Desenvolvimento do motor de regras e backend PIX.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BEF264"/>
                </a:solidFill>
                <a:latin typeface="Outfit"/>
                <a:ea typeface="Outfit"/>
                <a:cs typeface="Outfit"/>
                <a:sym typeface="Outfit"/>
              </a:rPr>
              <a:t>Ecossistema Técnico Integrado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66987"/>
            <a:ext cx="3524250" cy="2676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3875" y="2566987"/>
            <a:ext cx="3524250" cy="2676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6250" y="2566987"/>
            <a:ext cx="3524250" cy="2676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775" y="2890837"/>
            <a:ext cx="3238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/>
        </p:nvSpPr>
        <p:spPr>
          <a:xfrm>
            <a:off x="866775" y="3319462"/>
            <a:ext cx="308038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BEF264"/>
                </a:solidFill>
                <a:latin typeface="Outfit"/>
                <a:ea typeface="Outfit"/>
                <a:cs typeface="Outfit"/>
                <a:sym typeface="Outfit"/>
              </a:rPr>
              <a:t>Totem Autoatendimento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866775" y="3690937"/>
            <a:ext cx="29337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Terminal físico estratégico para descentralizar os pedidos do balcão principal, reduzindo filas.</a:t>
            </a:r>
            <a:endParaRPr/>
          </a:p>
        </p:txBody>
      </p:sp>
      <p:pic>
        <p:nvPicPr>
          <p:cNvPr descr="image.png" id="161" name="Google Shape;16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29150" y="2890837"/>
            <a:ext cx="3238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4629150" y="3319462"/>
            <a:ext cx="308038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BEF264"/>
                </a:solidFill>
                <a:latin typeface="Outfit"/>
                <a:ea typeface="Outfit"/>
                <a:cs typeface="Outfit"/>
                <a:sym typeface="Outfit"/>
              </a:rPr>
              <a:t>Sistema de Token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4629150" y="3690937"/>
            <a:ext cx="2933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Acompanhamento digital do status do pedido, eliminando aglomerações na retirada do lanche.</a:t>
            </a:r>
            <a:endParaRPr/>
          </a:p>
        </p:txBody>
      </p:sp>
      <p:pic>
        <p:nvPicPr>
          <p:cNvPr descr="image.png" id="164" name="Google Shape;164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91525" y="2890837"/>
            <a:ext cx="2476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/>
        </p:nvSpPr>
        <p:spPr>
          <a:xfrm>
            <a:off x="8391525" y="3319462"/>
            <a:ext cx="308038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BEF264"/>
                </a:solidFill>
                <a:latin typeface="Outfit"/>
                <a:ea typeface="Outfit"/>
                <a:cs typeface="Outfit"/>
                <a:sym typeface="Outfit"/>
              </a:rPr>
              <a:t>Pagamento via PIX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8391525" y="3690937"/>
            <a:ext cx="2933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Checkout instantâneo via QR Code Dinâmico, garantindo segurança e agilidade financeira.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BEF264"/>
                </a:solidFill>
                <a:latin typeface="Outfit"/>
                <a:ea typeface="Outfit"/>
                <a:cs typeface="Outfit"/>
                <a:sym typeface="Outfit"/>
              </a:rPr>
              <a:t>Soluções Propostas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26443"/>
            <a:ext cx="5429250" cy="17835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0" y="2026443"/>
            <a:ext cx="5429250" cy="17835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000500"/>
            <a:ext cx="5429250" cy="17835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4000500"/>
            <a:ext cx="5429250" cy="1783556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847725" y="2543175"/>
            <a:ext cx="516064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BEF264"/>
                </a:solidFill>
                <a:latin typeface="Inter"/>
                <a:ea typeface="Inter"/>
                <a:cs typeface="Inter"/>
                <a:sym typeface="Inter"/>
              </a:rPr>
              <a:t>Personalização do Pedido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847725" y="2886075"/>
            <a:ext cx="4914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Flexibilidade para escolha de ingredientes e acompanhamentos adicionais.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6467475" y="2543175"/>
            <a:ext cx="516064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BEF264"/>
                </a:solidFill>
                <a:latin typeface="Inter"/>
                <a:ea typeface="Inter"/>
                <a:cs typeface="Inter"/>
                <a:sym typeface="Inter"/>
              </a:rPr>
              <a:t>Mais Vendidos do Dia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6467475" y="2886075"/>
            <a:ext cx="4914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Destaque inteligente para os lanches populares, facilitando a decisão de compra.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847725" y="4517231"/>
            <a:ext cx="516064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BEF264"/>
                </a:solidFill>
                <a:latin typeface="Inter"/>
                <a:ea typeface="Inter"/>
                <a:cs typeface="Inter"/>
                <a:sym typeface="Inter"/>
              </a:rPr>
              <a:t>Tela de Login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847725" y="4860131"/>
            <a:ext cx="4914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Acesso seguro para gestão de saldo e histórico individual do aluno.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6467475" y="4517231"/>
            <a:ext cx="516064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BEF264"/>
                </a:solidFill>
                <a:latin typeface="Inter"/>
                <a:ea typeface="Inter"/>
                <a:cs typeface="Inter"/>
                <a:sym typeface="Inter"/>
              </a:rPr>
              <a:t>Fidelidade por Pontos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6467475" y="4860131"/>
            <a:ext cx="4914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Sistema de gamificação que recompensa o consumo recorrente com benefícios.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BEF264"/>
                </a:solidFill>
                <a:latin typeface="Outfit"/>
                <a:ea typeface="Outfit"/>
                <a:cs typeface="Outfit"/>
                <a:sym typeface="Outfit"/>
              </a:rPr>
              <a:t>Novas Funções Implementadas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 title="ChatGPT Image 20 de mai. de 2026, 17_57_31.png"/>
          <p:cNvPicPr preferRelativeResize="0"/>
          <p:nvPr/>
        </p:nvPicPr>
        <p:blipFill rotWithShape="1">
          <a:blip r:embed="rId4">
            <a:alphaModFix/>
          </a:blip>
          <a:srcRect b="0" l="6347" r="6355" t="0"/>
          <a:stretch/>
        </p:blipFill>
        <p:spPr>
          <a:xfrm>
            <a:off x="6381750" y="1905000"/>
            <a:ext cx="5238751" cy="4000499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9"/>
          <p:cNvSpPr txBox="1"/>
          <p:nvPr/>
        </p:nvSpPr>
        <p:spPr>
          <a:xfrm>
            <a:off x="657225" y="1847850"/>
            <a:ext cx="54150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BEF264"/>
                </a:solidFill>
                <a:latin typeface="Outfit"/>
                <a:ea typeface="Outfit"/>
                <a:cs typeface="Outfit"/>
                <a:sym typeface="Outfit"/>
              </a:rPr>
              <a:t>Análise Estrutural</a:t>
            </a:r>
            <a:endParaRPr>
              <a:solidFill>
                <a:srgbClr val="BEF264"/>
              </a:solidFill>
            </a:endParaRPr>
          </a:p>
        </p:txBody>
      </p:sp>
      <p:sp>
        <p:nvSpPr>
          <p:cNvPr id="193" name="Google Shape;193;p19"/>
          <p:cNvSpPr txBox="1"/>
          <p:nvPr/>
        </p:nvSpPr>
        <p:spPr>
          <a:xfrm>
            <a:off x="571500" y="2133600"/>
            <a:ext cx="5238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interface inicial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(conforme rascunho anexado)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estabeleceu os pilares do design: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6581775" y="3276600"/>
            <a:ext cx="4838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657225" y="2895600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762000" y="2895600"/>
            <a:ext cx="50484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EF264"/>
                </a:solidFill>
                <a:latin typeface="Inter"/>
                <a:ea typeface="Inter"/>
                <a:cs typeface="Inter"/>
                <a:sym typeface="Inter"/>
              </a:rPr>
              <a:t>Identidade Visual: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O cabeçalho verde e a logo "Cantina" trazem clareza e autoridade.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657225" y="3609975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762000" y="3609975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EF264"/>
                </a:solidFill>
                <a:latin typeface="Inter"/>
                <a:ea typeface="Inter"/>
                <a:cs typeface="Inter"/>
                <a:sym typeface="Inter"/>
              </a:rPr>
              <a:t>Navegação: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Botões como "Cardápio" e "Sobre Nós" garantem um fluxo intuitivo.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657225" y="4324350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762000" y="4324350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EF264"/>
                </a:solidFill>
                <a:latin typeface="Inter"/>
                <a:ea typeface="Inter"/>
                <a:cs typeface="Inter"/>
                <a:sym typeface="Inter"/>
              </a:rPr>
              <a:t>Catálogo: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 seção "Refeições da semana" serviu de base para a recomendação de pratos do dia.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BEF264"/>
                </a:solidFill>
                <a:latin typeface="Outfit"/>
                <a:ea typeface="Outfit"/>
                <a:cs typeface="Outfit"/>
                <a:sym typeface="Outfit"/>
              </a:rPr>
              <a:t>Figma: A Base do Protótipo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6" name="Google Shape;20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5524500" y="857250"/>
            <a:ext cx="1143000" cy="3810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295275" y="1181100"/>
            <a:ext cx="11601450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BEF264"/>
                </a:solidFill>
                <a:latin typeface="Outfit"/>
                <a:ea typeface="Outfit"/>
                <a:cs typeface="Outfit"/>
                <a:sym typeface="Outfit"/>
              </a:rPr>
              <a:t>Demonstração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571500" y="2333625"/>
            <a:ext cx="110490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Vamos ver a solução em funcionamento na prática.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